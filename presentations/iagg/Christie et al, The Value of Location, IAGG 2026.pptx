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  <p:sldMasterId id="2147483701" r:id="rId2"/>
  </p:sldMasterIdLst>
  <p:notesMasterIdLst>
    <p:notesMasterId r:id="rId18"/>
  </p:notesMasterIdLst>
  <p:sldIdLst>
    <p:sldId id="291" r:id="rId3"/>
    <p:sldId id="361" r:id="rId4"/>
    <p:sldId id="326" r:id="rId5"/>
    <p:sldId id="328" r:id="rId6"/>
    <p:sldId id="310" r:id="rId7"/>
    <p:sldId id="311" r:id="rId8"/>
    <p:sldId id="312" r:id="rId9"/>
    <p:sldId id="333" r:id="rId10"/>
    <p:sldId id="334" r:id="rId11"/>
    <p:sldId id="316" r:id="rId12"/>
    <p:sldId id="354" r:id="rId13"/>
    <p:sldId id="318" r:id="rId14"/>
    <p:sldId id="319" r:id="rId15"/>
    <p:sldId id="360" r:id="rId16"/>
    <p:sldId id="28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4E11"/>
    <a:srgbClr val="D0C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5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MWTP (SEK/month; divide by 11.42 for EUR)</c:v>
                </c:pt>
              </c:strCache>
            </c:strRef>
          </c:tx>
          <c:spPr>
            <a:solidFill>
              <a:srgbClr val="1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3C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Green 500m (vs 15km)</c:v>
                </c:pt>
                <c:pt idx="1">
                  <c:v>Green 5km (vs 15km)</c:v>
                </c:pt>
                <c:pt idx="2">
                  <c:v>Shops 500m (vs 15km)</c:v>
                </c:pt>
                <c:pt idx="3">
                  <c:v>Shops 5km (vs 15km)</c:v>
                </c:pt>
                <c:pt idx="4">
                  <c:v>Transport 300m (vs 900m)</c:v>
                </c:pt>
                <c:pt idx="5">
                  <c:v>Transport 600m (vs 900m)</c:v>
                </c:pt>
                <c:pt idx="6">
                  <c:v>Garage (vs none)</c:v>
                </c:pt>
                <c:pt idx="7">
                  <c:v>Reserved space (vs none)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397</c:v>
                </c:pt>
                <c:pt idx="1">
                  <c:v>200</c:v>
                </c:pt>
                <c:pt idx="2">
                  <c:v>598</c:v>
                </c:pt>
                <c:pt idx="3">
                  <c:v>184</c:v>
                </c:pt>
                <c:pt idx="4">
                  <c:v>227</c:v>
                </c:pt>
                <c:pt idx="5">
                  <c:v>74</c:v>
                </c:pt>
                <c:pt idx="6">
                  <c:v>587</c:v>
                </c:pt>
                <c:pt idx="7">
                  <c:v>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BF-4B10-B118-3D8238E940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Homeowners (SEK/month; ÷11.42 for EUR)</c:v>
                </c:pt>
              </c:strCache>
            </c:strRef>
          </c:tx>
          <c:spPr>
            <a:solidFill>
              <a:srgbClr val="1D7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3C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 500m (vs 15km)</c:v>
                </c:pt>
                <c:pt idx="1">
                  <c:v>Shops 500m (vs 15km)</c:v>
                </c:pt>
                <c:pt idx="2">
                  <c:v>Transport 300m (vs 900m)</c:v>
                </c:pt>
                <c:pt idx="3">
                  <c:v>Garage (vs none)</c:v>
                </c:pt>
                <c:pt idx="4">
                  <c:v>Reserved space (vs none)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</c:v>
                </c:pt>
                <c:pt idx="1">
                  <c:v>598</c:v>
                </c:pt>
                <c:pt idx="2">
                  <c:v>227</c:v>
                </c:pt>
                <c:pt idx="3">
                  <c:v>587</c:v>
                </c:pt>
                <c:pt idx="4">
                  <c:v>478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D9-4BBC-A659-55B98CA779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Renters</c:v>
                </c:pt>
              </c:strCache>
            </c:strRef>
          </c:tx>
          <c:spPr>
            <a:solidFill>
              <a:srgbClr val="E887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3C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 500m (vs 15km)</c:v>
                </c:pt>
                <c:pt idx="1">
                  <c:v>Shops 500m (vs 15km)</c:v>
                </c:pt>
                <c:pt idx="2">
                  <c:v>Transport 300m (vs 900m)</c:v>
                </c:pt>
                <c:pt idx="3">
                  <c:v>Garage (vs none)</c:v>
                </c:pt>
                <c:pt idx="4">
                  <c:v>Reserved space (vs none)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346</c:v>
                </c:pt>
                <c:pt idx="1">
                  <c:v>408</c:v>
                </c:pt>
                <c:pt idx="2">
                  <c:v>134</c:v>
                </c:pt>
                <c:pt idx="3">
                  <c:v>254</c:v>
                </c:pt>
                <c:pt idx="4">
                  <c:v>249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1D9-4BBC-A659-55B98CA779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Women (SEK/month; ÷11.42 for EUR)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 500m (vs 15km)</c:v>
                </c:pt>
                <c:pt idx="1">
                  <c:v>Transport 300m (vs 900m)</c:v>
                </c:pt>
                <c:pt idx="2">
                  <c:v>Shops 5km (vs 15km)</c:v>
                </c:pt>
                <c:pt idx="3">
                  <c:v>Garage (vs none)</c:v>
                </c:pt>
                <c:pt idx="4">
                  <c:v>Reserved space (vs none)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478</c:v>
                </c:pt>
                <c:pt idx="1">
                  <c:v>288</c:v>
                </c:pt>
                <c:pt idx="2">
                  <c:v>618</c:v>
                </c:pt>
                <c:pt idx="3">
                  <c:v>550</c:v>
                </c:pt>
                <c:pt idx="4">
                  <c:v>430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F6-44DB-A0DE-61015A5C2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E887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Green 500m (vs 15km)</c:v>
                </c:pt>
                <c:pt idx="1">
                  <c:v>Transport 300m (vs 900m)</c:v>
                </c:pt>
                <c:pt idx="2">
                  <c:v>Shops 5km (vs 15km)</c:v>
                </c:pt>
                <c:pt idx="3">
                  <c:v>Garage (vs none)</c:v>
                </c:pt>
                <c:pt idx="4">
                  <c:v>Reserved space (vs none)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313</c:v>
                </c:pt>
                <c:pt idx="1">
                  <c:v>157</c:v>
                </c:pt>
                <c:pt idx="2">
                  <c:v>578</c:v>
                </c:pt>
                <c:pt idx="3">
                  <c:v>624</c:v>
                </c:pt>
                <c:pt idx="4">
                  <c:v>518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FF6-44DB-A0DE-61015A5C28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247784-8543-432D-BB65-B7B51A26D89E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D78123-9A2C-46D8-93D3-AC86D21014DF}">
      <dgm:prSet/>
      <dgm:spPr/>
      <dgm:t>
        <a:bodyPr/>
        <a:lstStyle/>
        <a:p>
          <a:r>
            <a:rPr lang="en-US" b="0" i="0" dirty="0"/>
            <a:t>The presenter has no relevant financial relationships, commercial interests, or conflicts of interest to disclose related to the content of this symposium.</a:t>
          </a:r>
          <a:endParaRPr lang="en-US" dirty="0"/>
        </a:p>
      </dgm:t>
    </dgm:pt>
    <dgm:pt modelId="{C8F81657-E8DD-4913-9EF1-6A74B2F6FFBB}" type="parTrans" cxnId="{B308F34E-83C4-4327-B97F-D6BA3678C578}">
      <dgm:prSet/>
      <dgm:spPr/>
      <dgm:t>
        <a:bodyPr/>
        <a:lstStyle/>
        <a:p>
          <a:endParaRPr lang="en-US"/>
        </a:p>
      </dgm:t>
    </dgm:pt>
    <dgm:pt modelId="{60587EF7-866C-4C48-AC32-996778FE3D6C}" type="sibTrans" cxnId="{B308F34E-83C4-4327-B97F-D6BA3678C578}">
      <dgm:prSet/>
      <dgm:spPr/>
      <dgm:t>
        <a:bodyPr/>
        <a:lstStyle/>
        <a:p>
          <a:endParaRPr lang="en-US"/>
        </a:p>
      </dgm:t>
    </dgm:pt>
    <dgm:pt modelId="{6F0F4EEC-C162-4DC9-8B12-58F18706B7FC}">
      <dgm:prSet/>
      <dgm:spPr/>
      <dgm:t>
        <a:bodyPr/>
        <a:lstStyle/>
        <a:p>
          <a:r>
            <a:rPr lang="en-US" b="0" i="0" dirty="0"/>
            <a:t>All opinions and conclusions presented are based on the available evidence and the presenter’s professional judgment.</a:t>
          </a:r>
          <a:endParaRPr lang="en-US" dirty="0"/>
        </a:p>
      </dgm:t>
    </dgm:pt>
    <dgm:pt modelId="{FFBF60E1-E6F9-422B-9E08-890260536F60}" type="parTrans" cxnId="{830E4460-59DF-4100-9719-EEFAB22E3995}">
      <dgm:prSet/>
      <dgm:spPr/>
      <dgm:t>
        <a:bodyPr/>
        <a:lstStyle/>
        <a:p>
          <a:endParaRPr lang="en-US"/>
        </a:p>
      </dgm:t>
    </dgm:pt>
    <dgm:pt modelId="{BB9EE3E6-F9FA-4373-BF36-125B70E5B5A3}" type="sibTrans" cxnId="{830E4460-59DF-4100-9719-EEFAB22E3995}">
      <dgm:prSet/>
      <dgm:spPr/>
      <dgm:t>
        <a:bodyPr/>
        <a:lstStyle/>
        <a:p>
          <a:endParaRPr lang="en-US"/>
        </a:p>
      </dgm:t>
    </dgm:pt>
    <dgm:pt modelId="{3BA8D270-188B-4847-AD94-4C07642C5D7A}" type="pres">
      <dgm:prSet presAssocID="{3E247784-8543-432D-BB65-B7B51A26D89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A140734-A0D4-465F-8D77-44EDE9AE9223}" type="pres">
      <dgm:prSet presAssocID="{34D78123-9A2C-46D8-93D3-AC86D21014DF}" presName="hierRoot1" presStyleCnt="0"/>
      <dgm:spPr/>
    </dgm:pt>
    <dgm:pt modelId="{37722726-79AD-45D0-B9FF-3F5F1B63B405}" type="pres">
      <dgm:prSet presAssocID="{34D78123-9A2C-46D8-93D3-AC86D21014DF}" presName="composite" presStyleCnt="0"/>
      <dgm:spPr/>
    </dgm:pt>
    <dgm:pt modelId="{D222AA51-DB57-4C23-AA3A-60EEE20BF850}" type="pres">
      <dgm:prSet presAssocID="{34D78123-9A2C-46D8-93D3-AC86D21014DF}" presName="background" presStyleLbl="node0" presStyleIdx="0" presStyleCnt="2"/>
      <dgm:spPr/>
    </dgm:pt>
    <dgm:pt modelId="{791EFC06-70C9-4FBA-A761-65CEC0B0C997}" type="pres">
      <dgm:prSet presAssocID="{34D78123-9A2C-46D8-93D3-AC86D21014DF}" presName="text" presStyleLbl="fgAcc0" presStyleIdx="0" presStyleCnt="2">
        <dgm:presLayoutVars>
          <dgm:chPref val="3"/>
        </dgm:presLayoutVars>
      </dgm:prSet>
      <dgm:spPr/>
    </dgm:pt>
    <dgm:pt modelId="{EDB27ACB-4BF1-427D-890D-D6DA49E4C59C}" type="pres">
      <dgm:prSet presAssocID="{34D78123-9A2C-46D8-93D3-AC86D21014DF}" presName="hierChild2" presStyleCnt="0"/>
      <dgm:spPr/>
    </dgm:pt>
    <dgm:pt modelId="{5514D517-E872-41C4-8885-497801451D52}" type="pres">
      <dgm:prSet presAssocID="{6F0F4EEC-C162-4DC9-8B12-58F18706B7FC}" presName="hierRoot1" presStyleCnt="0"/>
      <dgm:spPr/>
    </dgm:pt>
    <dgm:pt modelId="{8FDBDE66-D7D4-4267-9562-3D6336C23AA3}" type="pres">
      <dgm:prSet presAssocID="{6F0F4EEC-C162-4DC9-8B12-58F18706B7FC}" presName="composite" presStyleCnt="0"/>
      <dgm:spPr/>
    </dgm:pt>
    <dgm:pt modelId="{72991705-3FBF-4D0D-92C3-CFEBE81543FB}" type="pres">
      <dgm:prSet presAssocID="{6F0F4EEC-C162-4DC9-8B12-58F18706B7FC}" presName="background" presStyleLbl="node0" presStyleIdx="1" presStyleCnt="2"/>
      <dgm:spPr/>
    </dgm:pt>
    <dgm:pt modelId="{BDB5F63D-CDAF-41C3-AD0E-FBB07CCA60B9}" type="pres">
      <dgm:prSet presAssocID="{6F0F4EEC-C162-4DC9-8B12-58F18706B7FC}" presName="text" presStyleLbl="fgAcc0" presStyleIdx="1" presStyleCnt="2">
        <dgm:presLayoutVars>
          <dgm:chPref val="3"/>
        </dgm:presLayoutVars>
      </dgm:prSet>
      <dgm:spPr/>
    </dgm:pt>
    <dgm:pt modelId="{5CB2C912-1C19-44BB-9229-FEA8FAEB0E5C}" type="pres">
      <dgm:prSet presAssocID="{6F0F4EEC-C162-4DC9-8B12-58F18706B7FC}" presName="hierChild2" presStyleCnt="0"/>
      <dgm:spPr/>
    </dgm:pt>
  </dgm:ptLst>
  <dgm:cxnLst>
    <dgm:cxn modelId="{B22B905B-CBA7-4261-BFD9-BF6B862958FA}" type="presOf" srcId="{3E247784-8543-432D-BB65-B7B51A26D89E}" destId="{3BA8D270-188B-4847-AD94-4C07642C5D7A}" srcOrd="0" destOrd="0" presId="urn:microsoft.com/office/officeart/2005/8/layout/hierarchy1"/>
    <dgm:cxn modelId="{830E4460-59DF-4100-9719-EEFAB22E3995}" srcId="{3E247784-8543-432D-BB65-B7B51A26D89E}" destId="{6F0F4EEC-C162-4DC9-8B12-58F18706B7FC}" srcOrd="1" destOrd="0" parTransId="{FFBF60E1-E6F9-422B-9E08-890260536F60}" sibTransId="{BB9EE3E6-F9FA-4373-BF36-125B70E5B5A3}"/>
    <dgm:cxn modelId="{B308F34E-83C4-4327-B97F-D6BA3678C578}" srcId="{3E247784-8543-432D-BB65-B7B51A26D89E}" destId="{34D78123-9A2C-46D8-93D3-AC86D21014DF}" srcOrd="0" destOrd="0" parTransId="{C8F81657-E8DD-4913-9EF1-6A74B2F6FFBB}" sibTransId="{60587EF7-866C-4C48-AC32-996778FE3D6C}"/>
    <dgm:cxn modelId="{459F34A5-6FC9-4407-9BCD-979CA188A474}" type="presOf" srcId="{6F0F4EEC-C162-4DC9-8B12-58F18706B7FC}" destId="{BDB5F63D-CDAF-41C3-AD0E-FBB07CCA60B9}" srcOrd="0" destOrd="0" presId="urn:microsoft.com/office/officeart/2005/8/layout/hierarchy1"/>
    <dgm:cxn modelId="{2E6C2CBF-144E-4751-B98A-2088925BB4E7}" type="presOf" srcId="{34D78123-9A2C-46D8-93D3-AC86D21014DF}" destId="{791EFC06-70C9-4FBA-A761-65CEC0B0C997}" srcOrd="0" destOrd="0" presId="urn:microsoft.com/office/officeart/2005/8/layout/hierarchy1"/>
    <dgm:cxn modelId="{5C2B44DF-284F-4D7F-A4E8-4C016537AF83}" type="presParOf" srcId="{3BA8D270-188B-4847-AD94-4C07642C5D7A}" destId="{EA140734-A0D4-465F-8D77-44EDE9AE9223}" srcOrd="0" destOrd="0" presId="urn:microsoft.com/office/officeart/2005/8/layout/hierarchy1"/>
    <dgm:cxn modelId="{8BBB7AFD-ED19-4044-926B-6BC884996268}" type="presParOf" srcId="{EA140734-A0D4-465F-8D77-44EDE9AE9223}" destId="{37722726-79AD-45D0-B9FF-3F5F1B63B405}" srcOrd="0" destOrd="0" presId="urn:microsoft.com/office/officeart/2005/8/layout/hierarchy1"/>
    <dgm:cxn modelId="{FB6B2720-1927-461F-8697-CC62EB2069B3}" type="presParOf" srcId="{37722726-79AD-45D0-B9FF-3F5F1B63B405}" destId="{D222AA51-DB57-4C23-AA3A-60EEE20BF850}" srcOrd="0" destOrd="0" presId="urn:microsoft.com/office/officeart/2005/8/layout/hierarchy1"/>
    <dgm:cxn modelId="{D1EC607D-AD8E-4C54-BEDE-25F1EBB8ECBA}" type="presParOf" srcId="{37722726-79AD-45D0-B9FF-3F5F1B63B405}" destId="{791EFC06-70C9-4FBA-A761-65CEC0B0C997}" srcOrd="1" destOrd="0" presId="urn:microsoft.com/office/officeart/2005/8/layout/hierarchy1"/>
    <dgm:cxn modelId="{7BEDC404-1D46-4755-998A-54AAF9FDCB42}" type="presParOf" srcId="{EA140734-A0D4-465F-8D77-44EDE9AE9223}" destId="{EDB27ACB-4BF1-427D-890D-D6DA49E4C59C}" srcOrd="1" destOrd="0" presId="urn:microsoft.com/office/officeart/2005/8/layout/hierarchy1"/>
    <dgm:cxn modelId="{A5520A1E-9858-4F09-AB1B-75F3302A45E5}" type="presParOf" srcId="{3BA8D270-188B-4847-AD94-4C07642C5D7A}" destId="{5514D517-E872-41C4-8885-497801451D52}" srcOrd="1" destOrd="0" presId="urn:microsoft.com/office/officeart/2005/8/layout/hierarchy1"/>
    <dgm:cxn modelId="{941D5A3B-F99F-4E92-93E6-4171C89C1D1A}" type="presParOf" srcId="{5514D517-E872-41C4-8885-497801451D52}" destId="{8FDBDE66-D7D4-4267-9562-3D6336C23AA3}" srcOrd="0" destOrd="0" presId="urn:microsoft.com/office/officeart/2005/8/layout/hierarchy1"/>
    <dgm:cxn modelId="{951E55F7-4783-4C6E-8B11-B35C8962C0F4}" type="presParOf" srcId="{8FDBDE66-D7D4-4267-9562-3D6336C23AA3}" destId="{72991705-3FBF-4D0D-92C3-CFEBE81543FB}" srcOrd="0" destOrd="0" presId="urn:microsoft.com/office/officeart/2005/8/layout/hierarchy1"/>
    <dgm:cxn modelId="{586813F0-9367-4FB9-829F-2D00AF49F730}" type="presParOf" srcId="{8FDBDE66-D7D4-4267-9562-3D6336C23AA3}" destId="{BDB5F63D-CDAF-41C3-AD0E-FBB07CCA60B9}" srcOrd="1" destOrd="0" presId="urn:microsoft.com/office/officeart/2005/8/layout/hierarchy1"/>
    <dgm:cxn modelId="{4F941390-D971-49EA-9EFD-F2909F997D65}" type="presParOf" srcId="{5514D517-E872-41C4-8885-497801451D52}" destId="{5CB2C912-1C19-44BB-9229-FEA8FAEB0E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22AA51-DB57-4C23-AA3A-60EEE20BF850}">
      <dsp:nvSpPr>
        <dsp:cNvPr id="0" name=""/>
        <dsp:cNvSpPr/>
      </dsp:nvSpPr>
      <dsp:spPr>
        <a:xfrm>
          <a:off x="954" y="785311"/>
          <a:ext cx="3351248" cy="21280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91EFC06-70C9-4FBA-A761-65CEC0B0C997}">
      <dsp:nvSpPr>
        <dsp:cNvPr id="0" name=""/>
        <dsp:cNvSpPr/>
      </dsp:nvSpPr>
      <dsp:spPr>
        <a:xfrm>
          <a:off x="373315" y="1139053"/>
          <a:ext cx="3351248" cy="2128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The presenter has no relevant financial relationships, commercial interests, or conflicts of interest to disclose related to the content of this symposium.</a:t>
          </a:r>
          <a:endParaRPr lang="en-US" sz="2000" kern="1200" dirty="0"/>
        </a:p>
      </dsp:txBody>
      <dsp:txXfrm>
        <a:off x="435643" y="1201381"/>
        <a:ext cx="3226592" cy="2003386"/>
      </dsp:txXfrm>
    </dsp:sp>
    <dsp:sp modelId="{72991705-3FBF-4D0D-92C3-CFEBE81543FB}">
      <dsp:nvSpPr>
        <dsp:cNvPr id="0" name=""/>
        <dsp:cNvSpPr/>
      </dsp:nvSpPr>
      <dsp:spPr>
        <a:xfrm>
          <a:off x="4096925" y="785311"/>
          <a:ext cx="3351248" cy="212804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B5F63D-CDAF-41C3-AD0E-FBB07CCA60B9}">
      <dsp:nvSpPr>
        <dsp:cNvPr id="0" name=""/>
        <dsp:cNvSpPr/>
      </dsp:nvSpPr>
      <dsp:spPr>
        <a:xfrm>
          <a:off x="4469286" y="1139053"/>
          <a:ext cx="3351248" cy="21280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All opinions and conclusions presented are based on the available evidence and the presenter’s professional judgment.</a:t>
          </a:r>
          <a:endParaRPr lang="en-US" sz="2000" kern="1200" dirty="0"/>
        </a:p>
      </dsp:txBody>
      <dsp:txXfrm>
        <a:off x="4531614" y="1201381"/>
        <a:ext cx="3226592" cy="2003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6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50D4-8E1F-C75F-2BE7-8AF90B3D1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A45B9-CA6A-888B-8867-47EB541C3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05021-AE70-D949-C4DD-F93B6E0A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FF962-8F1F-DF2D-5473-D98A74028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96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 userDrawn="1"/>
        </p:nvSpPr>
        <p:spPr>
          <a:xfrm>
            <a:off x="286234" y="338449"/>
            <a:ext cx="8718226" cy="472084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352"/>
          </a:p>
        </p:txBody>
      </p:sp>
    </p:spTree>
    <p:extLst>
      <p:ext uri="{BB962C8B-B14F-4D97-AF65-F5344CB8AC3E}">
        <p14:creationId xmlns:p14="http://schemas.microsoft.com/office/powerpoint/2010/main" val="43378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4079407" y="1113417"/>
            <a:ext cx="5064593" cy="976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A3C37CF-2E7F-204C-BAF4-14554C428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7884" y="1204492"/>
            <a:ext cx="3859544" cy="550583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Add title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5140391" y="1752738"/>
            <a:ext cx="385954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4BB7ED9B-1D2D-7541-ABE9-750F505D4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27884" y="1829367"/>
            <a:ext cx="3859544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Name, affiliation etc.</a:t>
            </a:r>
          </a:p>
        </p:txBody>
      </p:sp>
      <p:pic>
        <p:nvPicPr>
          <p:cNvPr id="23" name="Bildobjekt 22">
            <a:extLst>
              <a:ext uri="{FF2B5EF4-FFF2-40B4-BE49-F238E27FC236}">
                <a16:creationId xmlns:a16="http://schemas.microsoft.com/office/drawing/2014/main" id="{E67EF931-F7AE-D74F-A8D9-A4EA6F281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F13E25-62D4-C599-9234-BF4E21DED21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5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>
            <a:extLst>
              <a:ext uri="{FF2B5EF4-FFF2-40B4-BE49-F238E27FC236}">
                <a16:creationId xmlns:a16="http://schemas.microsoft.com/office/drawing/2014/main" id="{B9FAF899-14FA-F046-96DB-82762ED410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22" name="Rektangel 2">
            <a:extLst>
              <a:ext uri="{FF2B5EF4-FFF2-40B4-BE49-F238E27FC236}">
                <a16:creationId xmlns:a16="http://schemas.microsoft.com/office/drawing/2014/main" id="{1E6DED82-8490-6141-A0AD-5A832A551408}"/>
              </a:ext>
            </a:extLst>
          </p:cNvPr>
          <p:cNvSpPr/>
          <p:nvPr userDrawn="1"/>
        </p:nvSpPr>
        <p:spPr>
          <a:xfrm>
            <a:off x="101720" y="92481"/>
            <a:ext cx="3198189" cy="185983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60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38100" tIns="38100" rIns="38100" bIns="38100" numCol="1" spcCol="38100" rtlCol="0" anchor="t" anchorCtr="0">
            <a:noAutofit/>
          </a:bodyPr>
          <a:lstStyle/>
          <a:p>
            <a:pPr marL="0" marR="0" lvl="0" indent="0" algn="ctr" defTabSz="43815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4079407" y="1113417"/>
            <a:ext cx="5064593" cy="1944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1A56743-FB24-1849-93B5-ADD6F23CD3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0733" y="1394518"/>
            <a:ext cx="4608648" cy="969497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3150"/>
            </a:lvl1pPr>
          </a:lstStyle>
          <a:p>
            <a:r>
              <a:rPr lang="en-GB" noProof="0"/>
              <a:t>Title slide for longer headline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4391198" y="2515271"/>
            <a:ext cx="46086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4BB7ED9B-1D2D-7541-ABE9-750F505D4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0735" y="2624682"/>
            <a:ext cx="4609201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 dirty="0"/>
              <a:t>Name, affiliation etc.</a:t>
            </a:r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3D946A34-F6D8-4B44-9644-EC06EE3B260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14C827-0FF6-A43E-5E94-051105375B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45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10" name="Rektangel 2">
            <a:extLst>
              <a:ext uri="{FF2B5EF4-FFF2-40B4-BE49-F238E27FC236}">
                <a16:creationId xmlns:a16="http://schemas.microsoft.com/office/drawing/2014/main" id="{5EA01DBB-6763-8B49-8D7A-51A30C118D29}"/>
              </a:ext>
            </a:extLst>
          </p:cNvPr>
          <p:cNvSpPr/>
          <p:nvPr userDrawn="1"/>
        </p:nvSpPr>
        <p:spPr>
          <a:xfrm>
            <a:off x="101720" y="92481"/>
            <a:ext cx="3198189" cy="1924579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38100" tIns="38100" rIns="38100" bIns="38100" numCol="1" spcCol="38100" rtlCol="0" anchor="t" anchorCtr="0">
            <a:noAutofit/>
          </a:bodyPr>
          <a:lstStyle/>
          <a:p>
            <a:pPr marL="0" marR="0" lvl="0" indent="0" algn="ctr" defTabSz="43815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059866" y="1113417"/>
            <a:ext cx="4084134" cy="976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2" name="Rubrik 1">
            <a:extLst>
              <a:ext uri="{FF2B5EF4-FFF2-40B4-BE49-F238E27FC236}">
                <a16:creationId xmlns:a16="http://schemas.microsoft.com/office/drawing/2014/main" id="{0465E161-D6C8-CE40-80C0-301BFB682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4208" y="1204492"/>
            <a:ext cx="3859544" cy="550583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5274208" y="1752738"/>
            <a:ext cx="37257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atshållare för text 11">
            <a:extLst>
              <a:ext uri="{FF2B5EF4-FFF2-40B4-BE49-F238E27FC236}">
                <a16:creationId xmlns:a16="http://schemas.microsoft.com/office/drawing/2014/main" id="{5E9EA6EC-E28E-CD41-8685-F6762D241A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4208" y="1840321"/>
            <a:ext cx="3859544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Name, affiliation etc.</a:t>
            </a: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C415B4A6-D08E-A042-B618-42DCBA34730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FD1BF8-F9F0-1C18-07D3-FD7FBB0820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95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2126C620-A434-6F44-8C7F-63061A79B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22" name="Rektangel 2">
            <a:extLst>
              <a:ext uri="{FF2B5EF4-FFF2-40B4-BE49-F238E27FC236}">
                <a16:creationId xmlns:a16="http://schemas.microsoft.com/office/drawing/2014/main" id="{1E6DED82-8490-6141-A0AD-5A832A551408}"/>
              </a:ext>
            </a:extLst>
          </p:cNvPr>
          <p:cNvSpPr/>
          <p:nvPr userDrawn="1"/>
        </p:nvSpPr>
        <p:spPr>
          <a:xfrm>
            <a:off x="101720" y="92481"/>
            <a:ext cx="3198189" cy="1924579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38100" tIns="38100" rIns="38100" bIns="38100" numCol="1" spcCol="38100" rtlCol="0" anchor="t" anchorCtr="0">
            <a:noAutofit/>
          </a:bodyPr>
          <a:lstStyle/>
          <a:p>
            <a:pPr marL="0" marR="0" lvl="0" indent="0" algn="ctr" defTabSz="43815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4079407" y="1113417"/>
            <a:ext cx="5064593" cy="1944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19" name="Rubrik 1">
            <a:extLst>
              <a:ext uri="{FF2B5EF4-FFF2-40B4-BE49-F238E27FC236}">
                <a16:creationId xmlns:a16="http://schemas.microsoft.com/office/drawing/2014/main" id="{9CF2729D-ECD9-C649-B375-DDA663FEE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0733" y="1394518"/>
            <a:ext cx="4608648" cy="969497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3150"/>
            </a:lvl1pPr>
          </a:lstStyle>
          <a:p>
            <a:r>
              <a:rPr lang="en-GB" noProof="0"/>
              <a:t>Title slide for longer headline</a:t>
            </a:r>
          </a:p>
        </p:txBody>
      </p:sp>
      <p:cxnSp>
        <p:nvCxnSpPr>
          <p:cNvPr id="15" name="Rak 14">
            <a:extLst>
              <a:ext uri="{FF2B5EF4-FFF2-40B4-BE49-F238E27FC236}">
                <a16:creationId xmlns:a16="http://schemas.microsoft.com/office/drawing/2014/main" id="{4283877A-7310-1244-AD34-A2BC6E7F7EC5}"/>
              </a:ext>
            </a:extLst>
          </p:cNvPr>
          <p:cNvCxnSpPr>
            <a:cxnSpLocks/>
          </p:cNvCxnSpPr>
          <p:nvPr userDrawn="1"/>
        </p:nvCxnSpPr>
        <p:spPr>
          <a:xfrm>
            <a:off x="4391198" y="2515271"/>
            <a:ext cx="46086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tshållare för text 11">
            <a:extLst>
              <a:ext uri="{FF2B5EF4-FFF2-40B4-BE49-F238E27FC236}">
                <a16:creationId xmlns:a16="http://schemas.microsoft.com/office/drawing/2014/main" id="{BB796774-9AC9-EF4E-8A3C-00D83E5A56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0735" y="2624682"/>
            <a:ext cx="4609201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Name, affiliation etc.</a:t>
            </a:r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4810F14E-9B82-AD45-A9ED-99611D37C7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492EFD4-0902-ECD9-664C-66D797837BE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8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059866" y="1113417"/>
            <a:ext cx="4084134" cy="976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16" name="Rubrik 1">
            <a:extLst>
              <a:ext uri="{FF2B5EF4-FFF2-40B4-BE49-F238E27FC236}">
                <a16:creationId xmlns:a16="http://schemas.microsoft.com/office/drawing/2014/main" id="{323BAD4B-C876-A947-B84B-70BE804FF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4208" y="1204492"/>
            <a:ext cx="3859544" cy="550583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315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Add title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5274208" y="1752738"/>
            <a:ext cx="37257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latshållare för text 11">
            <a:extLst>
              <a:ext uri="{FF2B5EF4-FFF2-40B4-BE49-F238E27FC236}">
                <a16:creationId xmlns:a16="http://schemas.microsoft.com/office/drawing/2014/main" id="{441749B1-2509-2A41-B7FC-7CEED5642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74208" y="1840321"/>
            <a:ext cx="3859544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Name, affiliation etc.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209784B7-2B3F-1A4D-9027-EAC271866D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03F818E-6E83-459D-6E7F-A220B0A0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804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objekt 12">
            <a:extLst>
              <a:ext uri="{FF2B5EF4-FFF2-40B4-BE49-F238E27FC236}">
                <a16:creationId xmlns:a16="http://schemas.microsoft.com/office/drawing/2014/main" id="{9945810A-D868-894A-8135-2C48517CE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/>
        </p:blipFill>
        <p:spPr>
          <a:xfrm>
            <a:off x="144066" y="141685"/>
            <a:ext cx="8855869" cy="4860131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4079407" y="1113417"/>
            <a:ext cx="5064593" cy="1944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18" name="Rubrik 1">
            <a:extLst>
              <a:ext uri="{FF2B5EF4-FFF2-40B4-BE49-F238E27FC236}">
                <a16:creationId xmlns:a16="http://schemas.microsoft.com/office/drawing/2014/main" id="{3B620808-FCD6-A847-A7FA-4CEA2CC82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0733" y="1394518"/>
            <a:ext cx="4608648" cy="969497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3150"/>
            </a:lvl1pPr>
          </a:lstStyle>
          <a:p>
            <a:r>
              <a:rPr lang="en-GB" noProof="0"/>
              <a:t>Title slide for longer headline</a:t>
            </a:r>
          </a:p>
        </p:txBody>
      </p:sp>
      <p:cxnSp>
        <p:nvCxnSpPr>
          <p:cNvPr id="14" name="Rak 13">
            <a:extLst>
              <a:ext uri="{FF2B5EF4-FFF2-40B4-BE49-F238E27FC236}">
                <a16:creationId xmlns:a16="http://schemas.microsoft.com/office/drawing/2014/main" id="{3382D092-2985-8E41-B909-155C77E15CCE}"/>
              </a:ext>
            </a:extLst>
          </p:cNvPr>
          <p:cNvCxnSpPr>
            <a:cxnSpLocks/>
          </p:cNvCxnSpPr>
          <p:nvPr userDrawn="1"/>
        </p:nvCxnSpPr>
        <p:spPr>
          <a:xfrm>
            <a:off x="4391198" y="2515271"/>
            <a:ext cx="460864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tshållare för text 11">
            <a:extLst>
              <a:ext uri="{FF2B5EF4-FFF2-40B4-BE49-F238E27FC236}">
                <a16:creationId xmlns:a16="http://schemas.microsoft.com/office/drawing/2014/main" id="{867F76BB-3A62-0A4A-BB95-F999DE2F25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0735" y="2624682"/>
            <a:ext cx="4609201" cy="26206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900" b="1" cap="all" spc="38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Name, affiliation etc.</a:t>
            </a:r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F8D03AA1-B493-CF43-9DE1-59DA4787B9F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0857" y="3170817"/>
            <a:ext cx="2113144" cy="197268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3DDAB6-9CCB-D569-2C16-F76EEC0FA1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68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74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8855869" cy="4860131"/>
          </a:xfrm>
          <a:solidFill>
            <a:schemeClr val="accent5"/>
          </a:solidFill>
        </p:spPr>
        <p:txBody>
          <a:bodyPr/>
          <a:lstStyle/>
          <a:p>
            <a:r>
              <a:rPr lang="en-GB" noProof="0" dirty="0"/>
              <a:t>Drag an image here or click the icon</a:t>
            </a:r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F135484C-500B-9E4C-B6F0-E6CD5D0A1E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67" y="-304854"/>
            <a:ext cx="6954317" cy="228524"/>
          </a:xfrm>
        </p:spPr>
        <p:txBody>
          <a:bodyPr wrap="square" lIns="0" tIns="0" rIns="0" bIns="0">
            <a:spAutoFit/>
          </a:bodyPr>
          <a:lstStyle>
            <a:lvl1pPr>
              <a:defRPr sz="16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 dirty="0"/>
              <a:t>Click here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26799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F7FFECAB-E5AC-4A4C-A95F-80726D1FE8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66" y="141685"/>
            <a:ext cx="8855869" cy="4860131"/>
          </a:xfrm>
          <a:solidFill>
            <a:schemeClr val="accent5"/>
          </a:solidFill>
        </p:spPr>
        <p:txBody>
          <a:bodyPr/>
          <a:lstStyle/>
          <a:p>
            <a:r>
              <a:rPr lang="en-GB" noProof="0" dirty="0"/>
              <a:t>Drag an image here or click the icon</a:t>
            </a:r>
          </a:p>
          <a:p>
            <a:endParaRPr lang="en-GB" noProof="0" dirty="0"/>
          </a:p>
          <a:p>
            <a:endParaRPr lang="en-GB" noProof="0" dirty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3EBAFC8-420B-8142-8D25-7580E64C2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4066" y="3306642"/>
            <a:ext cx="8855869" cy="1391829"/>
          </a:xfrm>
          <a:solidFill>
            <a:schemeClr val="tx1">
              <a:alpha val="50000"/>
            </a:schemeClr>
          </a:solidFill>
          <a:effectLst/>
        </p:spPr>
        <p:txBody>
          <a:bodyPr lIns="360000" tIns="108000" rIns="360000" bIns="612000" anchor="b">
            <a:spAutoFit/>
          </a:bodyPr>
          <a:lstStyle>
            <a:lvl1pPr algn="ctr">
              <a:defRPr sz="4800" cap="all" spc="75" baseline="0">
                <a:solidFill>
                  <a:schemeClr val="bg1"/>
                </a:solidFill>
                <a:effectLst>
                  <a:outerShdw blurRad="152400" algn="ctr" rotWithShape="0">
                    <a:prstClr val="black"/>
                  </a:outerShdw>
                </a:effectLst>
              </a:defRPr>
            </a:lvl1pPr>
          </a:lstStyle>
          <a:p>
            <a:r>
              <a:rPr lang="en-GB" noProof="0" dirty="0"/>
              <a:t>Add a headline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E46E1A1-AC7E-9041-B630-B7BC5AB5BB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4066" y="4190400"/>
            <a:ext cx="8855869" cy="376834"/>
          </a:xfrm>
          <a:effectLst/>
        </p:spPr>
        <p:txBody>
          <a:bodyPr wrap="square" lIns="360000" rIns="360000">
            <a:spAutoFit/>
          </a:bodyPr>
          <a:lstStyle>
            <a:lvl1pPr marL="0" indent="0" algn="ctr">
              <a:buNone/>
              <a:defRPr sz="2400" b="0" i="0">
                <a:solidFill>
                  <a:schemeClr val="bg1"/>
                </a:solidFill>
                <a:effectLst>
                  <a:outerShdw blurRad="152400" algn="ctr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noProof="0" dirty="0"/>
              <a:t>Add text here or make the grey box smaller</a:t>
            </a:r>
          </a:p>
        </p:txBody>
      </p:sp>
    </p:spTree>
    <p:extLst>
      <p:ext uri="{BB962C8B-B14F-4D97-AF65-F5344CB8AC3E}">
        <p14:creationId xmlns:p14="http://schemas.microsoft.com/office/powerpoint/2010/main" val="2263089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000" y="1619999"/>
            <a:ext cx="6615000" cy="2970000"/>
          </a:xfrm>
        </p:spPr>
        <p:txBody>
          <a:bodyPr/>
          <a:lstStyle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CA6C7-EA62-CBD1-95D9-9F07C07BE4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5" y="3961105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94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FDE34647-2FEA-054E-80E8-C0FCC8DEB358}"/>
              </a:ext>
            </a:extLst>
          </p:cNvPr>
          <p:cNvSpPr/>
          <p:nvPr userDrawn="1"/>
        </p:nvSpPr>
        <p:spPr>
          <a:xfrm>
            <a:off x="144066" y="140743"/>
            <a:ext cx="8855869" cy="48610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000" y="1619999"/>
            <a:ext cx="6615000" cy="2970000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  <p:pic>
        <p:nvPicPr>
          <p:cNvPr id="6" name="Bildobjekt 5">
            <a:extLst>
              <a:ext uri="{FF2B5EF4-FFF2-40B4-BE49-F238E27FC236}">
                <a16:creationId xmlns:a16="http://schemas.microsoft.com/office/drawing/2014/main" id="{366166D1-A94D-034B-A5C2-E51AD0A82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242312" y="4170789"/>
            <a:ext cx="531554" cy="70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60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diagram et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5000" y="269999"/>
            <a:ext cx="6615000" cy="899895"/>
          </a:xfrm>
        </p:spPr>
        <p:txBody>
          <a:bodyPr bIns="0" anchor="ctr" anchorCtr="0">
            <a:normAutofit/>
          </a:bodyPr>
          <a:lstStyle>
            <a:lvl1pPr>
              <a:defRPr sz="3600"/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000" y="1169894"/>
            <a:ext cx="6615000" cy="3420105"/>
          </a:xfrm>
        </p:spPr>
        <p:txBody>
          <a:bodyPr/>
          <a:lstStyle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</p:spTree>
    <p:extLst>
      <p:ext uri="{BB962C8B-B14F-4D97-AF65-F5344CB8AC3E}">
        <p14:creationId xmlns:p14="http://schemas.microsoft.com/office/powerpoint/2010/main" val="10983515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diagram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81A3E1B-C332-BE46-9FEB-739A7F90AAC9}"/>
              </a:ext>
            </a:extLst>
          </p:cNvPr>
          <p:cNvSpPr/>
          <p:nvPr userDrawn="1"/>
        </p:nvSpPr>
        <p:spPr>
          <a:xfrm>
            <a:off x="144066" y="140743"/>
            <a:ext cx="8855869" cy="48610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5000" y="269999"/>
            <a:ext cx="6615000" cy="899895"/>
          </a:xfrm>
        </p:spPr>
        <p:txBody>
          <a:bodyPr bIns="0"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000" y="1169894"/>
            <a:ext cx="6615000" cy="3420105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C3165E-4FB2-5B1B-DBF9-711B9F4A93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5" y="3961105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417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bulk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000" y="141685"/>
            <a:ext cx="7830000" cy="803315"/>
          </a:xfrm>
        </p:spPr>
        <p:txBody>
          <a:bodyPr bIns="0" anchor="ctr" anchorCtr="0">
            <a:normAutofit/>
          </a:bodyPr>
          <a:lstStyle>
            <a:lvl1pPr>
              <a:defRPr sz="3600"/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000" y="944998"/>
            <a:ext cx="7830000" cy="4056818"/>
          </a:xfrm>
        </p:spPr>
        <p:txBody>
          <a:bodyPr/>
          <a:lstStyle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</p:spTree>
    <p:extLst>
      <p:ext uri="{BB962C8B-B14F-4D97-AF65-F5344CB8AC3E}">
        <p14:creationId xmlns:p14="http://schemas.microsoft.com/office/powerpoint/2010/main" val="2993292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+ bulky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E7D8CD1-C060-BC4F-99D0-93925AD78847}"/>
              </a:ext>
            </a:extLst>
          </p:cNvPr>
          <p:cNvSpPr/>
          <p:nvPr userDrawn="1"/>
        </p:nvSpPr>
        <p:spPr>
          <a:xfrm>
            <a:off x="144066" y="140743"/>
            <a:ext cx="8855869" cy="48610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000" y="141685"/>
            <a:ext cx="7830000" cy="803315"/>
          </a:xfrm>
        </p:spPr>
        <p:txBody>
          <a:bodyPr bIns="0" anchor="ctr" anchorCtr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Add a headline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75000" y="944999"/>
            <a:ext cx="7830000" cy="4056817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057400" indent="0">
              <a:buNone/>
              <a:defRPr/>
            </a:lvl7pPr>
          </a:lstStyle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3DC579-ABA1-B6AC-D35F-839FD2105D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5" y="3961105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547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8855869" cy="4860131"/>
          </a:xfrm>
          <a:solidFill>
            <a:schemeClr val="bg2"/>
          </a:solidFill>
        </p:spPr>
        <p:txBody>
          <a:bodyPr/>
          <a:lstStyle/>
          <a:p>
            <a:r>
              <a:rPr lang="en-GB" noProof="0" dirty="0"/>
              <a:t>Drag an image here or click the icon to add background image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D19B9C2-70AA-3747-8E78-329608E61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3200" y="3451155"/>
            <a:ext cx="3970800" cy="1113085"/>
          </a:xfrm>
          <a:solidFill>
            <a:schemeClr val="bg1"/>
          </a:solidFill>
        </p:spPr>
        <p:txBody>
          <a:bodyPr wrap="square" lIns="540000" tIns="360000" rIns="360000" bIns="468000">
            <a:spAutoFit/>
          </a:bodyPr>
          <a:lstStyle>
            <a:lvl1pPr>
              <a:lnSpc>
                <a:spcPct val="100000"/>
              </a:lnSpc>
              <a:defRPr sz="1800" baseline="0"/>
            </a:lvl1pPr>
          </a:lstStyle>
          <a:p>
            <a:r>
              <a:rPr lang="en-GB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889803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small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8855869" cy="4860131"/>
          </a:xfrm>
          <a:solidFill>
            <a:schemeClr val="bg2"/>
          </a:solidFill>
        </p:spPr>
        <p:txBody>
          <a:bodyPr/>
          <a:lstStyle/>
          <a:p>
            <a:r>
              <a:rPr lang="en-GB" noProof="0" dirty="0"/>
              <a:t>Drag an image here or click the icon to add background image</a:t>
            </a:r>
          </a:p>
          <a:p>
            <a:endParaRPr lang="en-GB" noProof="0" dirty="0" err="1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BC89AA35-97B1-624B-B69D-58914AF5B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6710" y="3451155"/>
            <a:ext cx="3087290" cy="1113085"/>
          </a:xfrm>
          <a:solidFill>
            <a:schemeClr val="bg1"/>
          </a:solidFill>
        </p:spPr>
        <p:txBody>
          <a:bodyPr wrap="square" lIns="540000" tIns="360000" rIns="360000" bIns="468000">
            <a:spAutoFit/>
          </a:bodyPr>
          <a:lstStyle>
            <a:lvl1pPr>
              <a:lnSpc>
                <a:spcPct val="100000"/>
              </a:lnSpc>
              <a:defRPr sz="1800" baseline="0"/>
            </a:lvl1pPr>
          </a:lstStyle>
          <a:p>
            <a:r>
              <a:rPr lang="en-GB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691510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6EFEA4A-5ABD-6A4D-88CB-42E58CB14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00" y="2089800"/>
            <a:ext cx="8316000" cy="461665"/>
          </a:xfrm>
        </p:spPr>
        <p:txBody>
          <a:bodyPr bIns="0" anchor="ctr" anchorCtr="0">
            <a:spAutoFit/>
          </a:bodyPr>
          <a:lstStyle>
            <a:lvl1pPr algn="ctr">
              <a:lnSpc>
                <a:spcPct val="100000"/>
              </a:lnSpc>
              <a:defRPr sz="3000"/>
            </a:lvl1pPr>
          </a:lstStyle>
          <a:p>
            <a:r>
              <a:rPr lang="en-GB" noProof="0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974193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F29DD6FC-67D4-1147-8BFB-BFE7374E65BA}"/>
              </a:ext>
            </a:extLst>
          </p:cNvPr>
          <p:cNvSpPr/>
          <p:nvPr userDrawn="1"/>
        </p:nvSpPr>
        <p:spPr>
          <a:xfrm>
            <a:off x="144066" y="140743"/>
            <a:ext cx="8855869" cy="486107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6EFEA4A-5ABD-6A4D-88CB-42E58CB14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3100" y="2088974"/>
            <a:ext cx="8316000" cy="461665"/>
          </a:xfrm>
        </p:spPr>
        <p:txBody>
          <a:bodyPr bIns="0" anchor="ctr" anchorCtr="0">
            <a:spAutoFit/>
          </a:bodyPr>
          <a:lstStyle>
            <a:lvl1pPr algn="ctr">
              <a:lnSpc>
                <a:spcPct val="100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C956E-98EF-C2E8-54B7-1EFA6800D0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5" y="3961105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627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87291" y="141685"/>
            <a:ext cx="2969418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56709" y="141685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66" y="2571749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6" name="Platshållare för bild 3">
            <a:extLst>
              <a:ext uri="{FF2B5EF4-FFF2-40B4-BE49-F238E27FC236}">
                <a16:creationId xmlns:a16="http://schemas.microsoft.com/office/drawing/2014/main" id="{04D25F2B-1A76-3943-8341-1E952FF295D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087291" y="2571748"/>
            <a:ext cx="2969418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56709" y="2571750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D971C67A-26E8-0C4A-982B-7B5FF06961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66" y="-304854"/>
            <a:ext cx="6949620" cy="228524"/>
          </a:xfrm>
        </p:spPr>
        <p:txBody>
          <a:bodyPr wrap="square" lIns="0" tIns="0" rIns="0" bIns="0">
            <a:spAutoFit/>
          </a:bodyPr>
          <a:lstStyle>
            <a:lvl1pPr>
              <a:defRPr sz="16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 dirty="0"/>
              <a:t>Click here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47490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A506083C-36FA-EA41-9374-E68FDA30D00D}"/>
              </a:ext>
            </a:extLst>
          </p:cNvPr>
          <p:cNvSpPr/>
          <p:nvPr userDrawn="1"/>
        </p:nvSpPr>
        <p:spPr>
          <a:xfrm>
            <a:off x="3087291" y="2571750"/>
            <a:ext cx="2969418" cy="24300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DDB3530F-65D5-CD43-82D8-FBC17205F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293" y="3162290"/>
            <a:ext cx="2969417" cy="969497"/>
          </a:xfrm>
          <a:noFill/>
        </p:spPr>
        <p:txBody>
          <a:bodyPr wrap="square" lIns="468000" rIns="432000" bIns="0" anchor="ctr" anchorCtr="0">
            <a:spAutoFit/>
          </a:bodyPr>
          <a:lstStyle>
            <a:lvl1pPr>
              <a:lnSpc>
                <a:spcPct val="100000"/>
              </a:lnSpc>
              <a:defRPr sz="2100" baseline="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Use this template when you need text in a collage</a:t>
            </a:r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87291" y="141685"/>
            <a:ext cx="2969418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56709" y="141685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66" y="2571749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56709" y="2571750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42710147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lage + tex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A506083C-36FA-EA41-9374-E68FDA30D00D}"/>
              </a:ext>
            </a:extLst>
          </p:cNvPr>
          <p:cNvSpPr/>
          <p:nvPr userDrawn="1"/>
        </p:nvSpPr>
        <p:spPr>
          <a:xfrm>
            <a:off x="3087291" y="2571750"/>
            <a:ext cx="2969418" cy="24300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noProof="0"/>
          </a:p>
        </p:txBody>
      </p:sp>
      <p:sp>
        <p:nvSpPr>
          <p:cNvPr id="9" name="Rubrik 2">
            <a:extLst>
              <a:ext uri="{FF2B5EF4-FFF2-40B4-BE49-F238E27FC236}">
                <a16:creationId xmlns:a16="http://schemas.microsoft.com/office/drawing/2014/main" id="{3E1C5BC2-1B5A-DA4F-A220-7E22547FE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293" y="3162290"/>
            <a:ext cx="2969417" cy="969497"/>
          </a:xfrm>
          <a:noFill/>
        </p:spPr>
        <p:txBody>
          <a:bodyPr wrap="square" lIns="468000" rIns="432000" bIns="0" anchor="ctr" anchorCtr="0">
            <a:spAutoFit/>
          </a:bodyPr>
          <a:lstStyle>
            <a:lvl1pPr>
              <a:lnSpc>
                <a:spcPct val="100000"/>
              </a:lnSpc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Use this template when you need text in a collage</a:t>
            </a:r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44066" y="141685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087291" y="141685"/>
            <a:ext cx="2969418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56709" y="141685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66" y="2571749"/>
            <a:ext cx="2943225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56709" y="2571750"/>
            <a:ext cx="2943227" cy="2430065"/>
          </a:xfrm>
        </p:spPr>
        <p:txBody>
          <a:bodyPr/>
          <a:lstStyle/>
          <a:p>
            <a:r>
              <a:rPr lang="en-GB" noProof="0" dirty="0"/>
              <a:t>Add image</a:t>
            </a:r>
          </a:p>
        </p:txBody>
      </p:sp>
    </p:spTree>
    <p:extLst>
      <p:ext uri="{BB962C8B-B14F-4D97-AF65-F5344CB8AC3E}">
        <p14:creationId xmlns:p14="http://schemas.microsoft.com/office/powerpoint/2010/main" val="42293243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DCB9E94-CD43-A846-848D-1D1C817F5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67" y="-304854"/>
            <a:ext cx="6954317" cy="228524"/>
          </a:xfrm>
        </p:spPr>
        <p:txBody>
          <a:bodyPr wrap="square" lIns="0" tIns="0" rIns="0" bIns="0">
            <a:spAutoFit/>
          </a:bodyPr>
          <a:lstStyle>
            <a:lvl1pPr>
              <a:defRPr sz="16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 dirty="0"/>
              <a:t>Click here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323141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724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4A9A7386-F759-0E42-A82F-00906141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000" y="269999"/>
            <a:ext cx="6615000" cy="1350000"/>
          </a:xfrm>
          <a:prstGeom prst="rect">
            <a:avLst/>
          </a:prstGeom>
        </p:spPr>
        <p:txBody>
          <a:bodyPr vert="horz" lIns="0" tIns="0" rIns="0" bIns="288000" rtlCol="0" anchor="b" anchorCtr="0">
            <a:normAutofit/>
          </a:bodyPr>
          <a:lstStyle/>
          <a:p>
            <a:r>
              <a:rPr lang="en-GB" noProof="0"/>
              <a:t>Headline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065C12-314E-C844-B105-FA43CA3D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000" y="1620000"/>
            <a:ext cx="6615000" cy="326350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en-GB" noProof="0"/>
              <a:t>Text level 1</a:t>
            </a:r>
          </a:p>
          <a:p>
            <a:pPr lvl="1"/>
            <a:r>
              <a:rPr lang="en-GB" noProof="0"/>
              <a:t>Text level 2</a:t>
            </a:r>
          </a:p>
          <a:p>
            <a:pPr lvl="2"/>
            <a:r>
              <a:rPr lang="en-GB" noProof="0"/>
              <a:t>Text level 3</a:t>
            </a:r>
          </a:p>
          <a:p>
            <a:pPr lvl="3"/>
            <a:r>
              <a:rPr lang="en-GB" noProof="0"/>
              <a:t>Text level 4</a:t>
            </a:r>
          </a:p>
          <a:p>
            <a:pPr lvl="4"/>
            <a:r>
              <a:rPr lang="en-GB" noProof="0"/>
              <a:t>Text level 5</a:t>
            </a:r>
          </a:p>
          <a:p>
            <a:pPr lvl="5"/>
            <a:r>
              <a:rPr lang="en-GB" noProof="0"/>
              <a:t>Text level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9966BA-B1DC-0B34-2F4D-51149E8EA7B0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75" y="3961105"/>
            <a:ext cx="2143423" cy="1312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6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35000" indent="-135000" algn="l" defTabSz="685800" rtl="0" eaLnBrk="1" latinLnBrk="0" hangingPunct="1">
        <a:lnSpc>
          <a:spcPct val="110000"/>
        </a:lnSpc>
        <a:spcBef>
          <a:spcPts val="900"/>
        </a:spcBef>
        <a:buClr>
          <a:schemeClr val="accent1"/>
        </a:buClr>
        <a:buFont typeface="Arial" panose="020B0604020202020204" pitchFamily="34" charset="0"/>
        <a:buChar char="•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78000" indent="-189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94000" indent="-189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10000" indent="-189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026000" indent="-189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242000" indent="-189000" algn="l" defTabSz="6858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165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121">
          <p15:clr>
            <a:srgbClr val="F26B43"/>
          </p15:clr>
        </p15:guide>
        <p15:guide id="4" pos="7559">
          <p15:clr>
            <a:srgbClr val="F26B43"/>
          </p15:clr>
        </p15:guide>
        <p15:guide id="5" pos="2593">
          <p15:clr>
            <a:srgbClr val="F26B43"/>
          </p15:clr>
        </p15:guide>
        <p15:guide id="6" pos="5087">
          <p15:clr>
            <a:srgbClr val="F26B43"/>
          </p15:clr>
        </p15:guide>
        <p15:guide id="7" orient="horz" pos="4201">
          <p15:clr>
            <a:srgbClr val="F26B43"/>
          </p15:clr>
        </p15:guide>
        <p15:guide id="8" orient="horz" pos="11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microsoft.com/office/2007/relationships/hdphoto" Target="../media/hdphoto5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brik 3">
            <a:extLst>
              <a:ext uri="{FF2B5EF4-FFF2-40B4-BE49-F238E27FC236}">
                <a16:creationId xmlns:a16="http://schemas.microsoft.com/office/drawing/2014/main" id="{4542405C-A985-C64D-843C-5DF7D91A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0733" y="1394519"/>
            <a:ext cx="4608648" cy="969496"/>
          </a:xfrm>
        </p:spPr>
        <p:txBody>
          <a:bodyPr/>
          <a:lstStyle/>
          <a:p>
            <a:r>
              <a:rPr lang="en-US" sz="2100" dirty="0"/>
              <a:t>The Value of Location: What Matters Most for Older Individuals Considering Relocation in Sweden?</a:t>
            </a:r>
            <a:endParaRPr lang="en-GB" sz="2100" dirty="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CDFD5E0B-3BFA-5441-9C89-3A42798249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dirty="0"/>
              <a:t>Nick Christie, Björn Slaug, Magnus Zingmark, Jonas Björk, and Susanne Iwarsson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4287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F49A1-8F2E-68FD-919E-6B10FD39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235" y="144327"/>
            <a:ext cx="7821490" cy="802442"/>
          </a:xfrm>
        </p:spPr>
        <p:txBody>
          <a:bodyPr anchor="ctr">
            <a:normAutofit/>
          </a:bodyPr>
          <a:lstStyle/>
          <a:p>
            <a:r>
              <a:rPr lang="sv-SE" dirty="0" err="1"/>
              <a:t>Disclosure</a:t>
            </a:r>
            <a:endParaRPr lang="sv-SE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079635B-9C0C-37F7-A7D0-D592D57515A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9235" y="946767"/>
          <a:ext cx="7821490" cy="405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44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243697-F190-4F14-8BAD-59AFE91C8E19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94E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B29AFD-2456-4C74-AA2A-3D762052ECB4}"/>
              </a:ext>
            </a:extLst>
          </p:cNvPr>
          <p:cNvSpPr txBox="1"/>
          <p:nvPr/>
        </p:nvSpPr>
        <p:spPr>
          <a:xfrm>
            <a:off x="368300" y="195590"/>
            <a:ext cx="8407400" cy="52322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cs typeface="Times New Roman"/>
              </a:rPr>
              <a:t>Study Aim &amp; Research Question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E0FD80-0FCF-497C-8E4A-AE593058C123}"/>
              </a:ext>
            </a:extLst>
          </p:cNvPr>
          <p:cNvSpPr/>
          <p:nvPr/>
        </p:nvSpPr>
        <p:spPr>
          <a:xfrm>
            <a:off x="762000" y="1397000"/>
            <a:ext cx="7620000" cy="2286000"/>
          </a:xfrm>
          <a:prstGeom prst="roundRect">
            <a:avLst/>
          </a:prstGeom>
          <a:solidFill>
            <a:srgbClr val="D0CCB6"/>
          </a:solidFill>
          <a:ln w="19050" cap="flat" cmpd="sng" algn="ctr">
            <a:solidFill>
              <a:srgbClr val="894E1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0D6895-F5F3-41C2-945D-FB29B2C457F4}"/>
              </a:ext>
            </a:extLst>
          </p:cNvPr>
          <p:cNvSpPr txBox="1"/>
          <p:nvPr/>
        </p:nvSpPr>
        <p:spPr>
          <a:xfrm>
            <a:off x="1016000" y="1587500"/>
            <a:ext cx="7112000" cy="190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2200" i="1">
                <a:solidFill>
                  <a:srgbClr val="2F2B28"/>
                </a:solidFill>
                <a:latin typeface="Times New Roman"/>
                <a:cs typeface="Times New Roman"/>
              </a:rPr>
              <a:t>When older adults in Sweden consider relocating,
which neighbourhood features do they value most,
and how much are they willing to pay for them?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8CC40-C539-4CC0-AA98-51A01F76DF93}"/>
              </a:ext>
            </a:extLst>
          </p:cNvPr>
          <p:cNvSpPr txBox="1"/>
          <p:nvPr/>
        </p:nvSpPr>
        <p:spPr>
          <a:xfrm>
            <a:off x="762000" y="39370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>
                <a:solidFill>
                  <a:srgbClr val="2F2B28"/>
                </a:solidFill>
                <a:latin typeface="Arial"/>
                <a:cs typeface="Arial"/>
              </a:rPr>
              <a:t>We use a discrete choice experiment (DCE) to estimate willingness to pay for </a:t>
            </a:r>
            <a:r>
              <a:rPr lang="en-US" sz="1400" dirty="0" err="1">
                <a:solidFill>
                  <a:srgbClr val="2F2B28"/>
                </a:solidFill>
                <a:latin typeface="Arial"/>
                <a:cs typeface="Arial"/>
              </a:rPr>
              <a:t>neighbourhood</a:t>
            </a:r>
            <a:r>
              <a:rPr lang="en-US" sz="1400" dirty="0">
                <a:solidFill>
                  <a:srgbClr val="2F2B28"/>
                </a:solidFill>
                <a:latin typeface="Arial"/>
                <a:cs typeface="Arial"/>
              </a:rPr>
              <a:t> attributes among older adults in Sweden who are actively considering relocation.</a:t>
            </a:r>
          </a:p>
        </p:txBody>
      </p:sp>
    </p:spTree>
    <p:extLst>
      <p:ext uri="{BB962C8B-B14F-4D97-AF65-F5344CB8AC3E}">
        <p14:creationId xmlns:p14="http://schemas.microsoft.com/office/powerpoint/2010/main" val="2969210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Discrete Choice Experiment?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640080" cy="1600200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335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34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Rooted in economics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DCEs originate in Lancaster (1966) consumer theory and McFadden's (1974) random utility model — awarded the Nobel Prize in Economics in 2000.</a:t>
            </a:r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754880" y="1097280"/>
            <a:ext cx="640080" cy="1600200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73352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2344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Repeated choice tasks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0" y="1737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Respondents choose between hypothetical alternatives that differ on predefined attributes — mimicking real trade-offs. Repeated 9 times per respondent.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65760" y="2880360"/>
            <a:ext cx="640080" cy="1600200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564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Stated vs revealed preferences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9728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Unlike revealed preference data, DCEs let us observe trade-offs that rarely occur in real markets — essential for studying older adult relocation.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14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754880" y="2880360"/>
            <a:ext cx="640080" cy="1600200"/>
          </a:xfrm>
          <a:prstGeom prst="rect">
            <a:avLst/>
          </a:prstGeom>
          <a:solidFill>
            <a:srgbClr val="E8F4F7"/>
          </a:solidFill>
          <a:ln w="12700">
            <a:solidFill>
              <a:srgbClr val="E8F4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456432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3017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Willingness to pay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48640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By including a cost attribute, we convert choice patterns into monetary values: how much (in SEK/month) would someone pay for a better location?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7084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five housing attributes in the experiment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05300" y="1097280"/>
            <a:ext cx="78729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1207008"/>
            <a:ext cx="457200" cy="457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6" name="Text 3"/>
          <p:cNvSpPr/>
          <p:nvPr/>
        </p:nvSpPr>
        <p:spPr>
          <a:xfrm>
            <a:off x="1005840" y="122529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Green Space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1207008"/>
            <a:ext cx="4754880" cy="475488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77640" y="120700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Levels:  500 m  |  5 km  |  15 km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05300" y="1865376"/>
            <a:ext cx="7872940" cy="694944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1975104"/>
            <a:ext cx="457200" cy="457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Text 7"/>
          <p:cNvSpPr/>
          <p:nvPr/>
        </p:nvSpPr>
        <p:spPr>
          <a:xfrm>
            <a:off x="1005840" y="19933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Shops &amp; Services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31920" y="1975104"/>
            <a:ext cx="4754880" cy="475488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977640" y="197510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Levels:  500 m  |  5 km  |  15 km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905300" y="2633472"/>
            <a:ext cx="787293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2775204"/>
            <a:ext cx="457200" cy="457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6" name="Text 11"/>
          <p:cNvSpPr/>
          <p:nvPr/>
        </p:nvSpPr>
        <p:spPr>
          <a:xfrm>
            <a:off x="1005840" y="27614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Public Transport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931920" y="2743200"/>
            <a:ext cx="4754880" cy="475488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3977640" y="27432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Levels:  300 m  |  600 m  |  900 m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5218" y="3401568"/>
            <a:ext cx="7973022" cy="694944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alphaModFix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8600" y="3511296"/>
            <a:ext cx="457200" cy="457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1" name="Text 15"/>
          <p:cNvSpPr/>
          <p:nvPr/>
        </p:nvSpPr>
        <p:spPr>
          <a:xfrm>
            <a:off x="1005840" y="35295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Parking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3931920" y="3511296"/>
            <a:ext cx="4754880" cy="475488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397764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Levels:  None  |  Reserved space  |  Garage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5300" y="4169664"/>
            <a:ext cx="78729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duotone>
              <a:prstClr val="black"/>
              <a:schemeClr val="tx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GlowEdges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2117" y="4297680"/>
            <a:ext cx="457200" cy="4572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26" name="Text 19"/>
          <p:cNvSpPr/>
          <p:nvPr/>
        </p:nvSpPr>
        <p:spPr>
          <a:xfrm>
            <a:off x="1005840" y="42976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2B28"/>
                </a:solidFill>
              </a:rPr>
              <a:t>Monthly Cost (compared to planned)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3931920" y="4279392"/>
            <a:ext cx="4754880" cy="475488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1"/>
          <p:cNvSpPr/>
          <p:nvPr/>
        </p:nvSpPr>
        <p:spPr>
          <a:xfrm>
            <a:off x="3977640" y="42793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Levels:  −20%  |  −10%  |  0%  |  +10%  |  +20%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8526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respondents actually saw — an example</a:t>
            </a:r>
            <a:endParaRPr lang="en-US" sz="22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BB80D47-132F-D037-4677-27F082507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756" y="1143000"/>
            <a:ext cx="6176921" cy="335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52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From choices to monetary values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15568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F2B28"/>
                </a:solidFill>
              </a:rPr>
              <a:t>Willingness to Pay (WTP) = the maximum extra amount per month a person would pay to get a better version of an attribute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67712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94E1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94E11"/>
                </a:solidFill>
              </a:rPr>
              <a:t>Respondent prefers: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Option with green space 500m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even though it costs more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42316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16552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94E11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94E11"/>
                </a:solidFill>
              </a:rPr>
              <a:t>We observe this: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108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Across 9 choice sets,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957 people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42316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65392" y="34290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94E11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894E11"/>
                </a:solidFill>
              </a:rPr>
              <a:t>We estimate utility coefficients (via mixed logit regressions) then calculate: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How much extra cost they'd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accept for that green space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423160"/>
            <a:ext cx="20116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03720" y="2514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94E11"/>
                </a:solidFill>
              </a:rPr>
              <a:t>Result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31089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"Owners: 397 SEK (€35)/month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2B28"/>
                </a:solidFill>
              </a:rPr>
              <a:t>for green space at 500m (compared to 15km)"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893188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</a:rPr>
              <a:t>Respondents generally prefer better locations — but how much?</a:t>
            </a:r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8580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All four attributes attracted positive preferences on average — closer was generally preferred. Estimated WTP among homeowners shown below (SEK/month; 1 EUR ≈ 11.42 SEK):</a:t>
            </a: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775323154"/>
              </p:ext>
            </p:extLst>
          </p:nvPr>
        </p:nvGraphicFramePr>
        <p:xfrm>
          <a:off x="365760" y="1828800"/>
          <a:ext cx="84124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79459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Homeowners vs Renters — Willingness To Pay (WTP)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Homeowners show higher WTP on average — this appears to reflect lower price sensitivity rather than weaker preferences among renters. Values in SEK/month (divide by 11.42 for EUR).</a:t>
            </a: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3592303597"/>
              </p:ext>
            </p:extLst>
          </p:nvPr>
        </p:nvGraphicFramePr>
        <p:xfrm>
          <a:off x="365760" y="1783080"/>
          <a:ext cx="84124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96059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parking puzzle — same preference, half the price?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3152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2B28"/>
                </a:solidFill>
              </a:rPr>
              <a:t>Utility coefficients for parking are nearly identical between owners and renters — they both want it equally. The monetary gap reflects budget constraints, not preference.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114800" cy="1828800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Homeowners 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587 SEK = €51/month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C06E"/>
                </a:solidFill>
              </a:rPr>
              <a:t>for a reserved garage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114800" cy="18288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Renters 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468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254 SEK = €22/month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C06E"/>
                </a:solidFill>
              </a:rPr>
              <a:t>for a reserved garage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8862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2B28"/>
                </a:solidFill>
              </a:rPr>
              <a:t>💡  Key insight: The price-sensitivity of renters (cost coefficient nearly 2× owners) explains most of the monetary gap. Renters may face real financial barriers to accessing well-located housing.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44716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Does age matter?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2B28"/>
                </a:solidFill>
              </a:rPr>
              <a:t>Age group split at 72 (the sample median). Most preferences stable — but public transport becomes notably more important with age.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651760" cy="64008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2B28"/>
                </a:solidFill>
              </a:rPr>
              <a:t>Transport: larger change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75488" y="306324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2B28"/>
                </a:solidFill>
              </a:rPr>
              <a:t>Older homeowners (72+) had estimated WTP of 136 SEK (€12)/month for a stop within 600m, vs 15 SEK (€1) among younger owners.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2B28"/>
                </a:solidFill>
              </a:rPr>
              <a:t>Public transport may become more important as mobility declines.</a:t>
            </a:r>
            <a:endParaRPr lang="en-US" sz="1100" b="1" dirty="0"/>
          </a:p>
        </p:txBody>
      </p:sp>
      <p:sp>
        <p:nvSpPr>
          <p:cNvPr id="11" name="Shape 8"/>
          <p:cNvSpPr/>
          <p:nvPr/>
        </p:nvSpPr>
        <p:spPr>
          <a:xfrm>
            <a:off x="3200400" y="18288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828800"/>
            <a:ext cx="2651760" cy="640080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2B28"/>
                </a:solidFill>
              </a:rPr>
              <a:t>Green Space: stable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306324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2B28"/>
                </a:solidFill>
              </a:rPr>
              <a:t>Preferences for green space remain broadly similar across age groups.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F2B28"/>
                </a:solidFill>
              </a:rPr>
              <a:t>Benefit of nature for wellbeing doesn't fade with age.</a:t>
            </a:r>
            <a:endParaRPr lang="en-US" sz="1100" b="1" dirty="0"/>
          </a:p>
        </p:txBody>
      </p:sp>
      <p:sp>
        <p:nvSpPr>
          <p:cNvPr id="16" name="Shape 12"/>
          <p:cNvSpPr/>
          <p:nvPr/>
        </p:nvSpPr>
        <p:spPr>
          <a:xfrm>
            <a:off x="6035040" y="1828800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35040" y="1828800"/>
            <a:ext cx="2651760" cy="64008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92024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514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2B28"/>
                </a:solidFill>
              </a:rPr>
              <a:t>Shops: slight change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44768" y="3063240"/>
            <a:ext cx="24505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F2B28"/>
                </a:solidFill>
              </a:rPr>
              <a:t>Older renters willing to pay 84 SEK (€7)/month less for very close shops, </a:t>
            </a:r>
            <a:r>
              <a:rPr lang="en-US" sz="1100" b="1" dirty="0">
                <a:solidFill>
                  <a:srgbClr val="2F2B28"/>
                </a:solidFill>
              </a:rPr>
              <a:t>possibly reflecting changing consumption patterns in later life.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3341055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 men and women prioritise differently?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2B28"/>
                </a:solidFill>
              </a:rPr>
              <a:t>Five statistically significant gender differences among homeowners. No significant gender differences found among renters. Values in SEK/month (divide by 11.42 for EUR).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164555326"/>
              </p:ext>
            </p:extLst>
          </p:nvPr>
        </p:nvGraphicFramePr>
        <p:xfrm>
          <a:off x="365760" y="1828800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182880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77840" y="1828800"/>
            <a:ext cx="32004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Women value more…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24231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2B28"/>
                </a:solidFill>
              </a:rPr>
              <a:t>🌿  Green space 500m: women 478 SEK (€42) vs men 313 SEK (€27)/month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F2B28"/>
                </a:solidFill>
              </a:rPr>
              <a:t>🚌  Transit 300m: women 288 SEK (€25) vs men 157 SEK (€14)/month</a:t>
            </a:r>
          </a:p>
          <a:p>
            <a:r>
              <a:rPr lang="en-US" sz="1000" dirty="0">
                <a:solidFill>
                  <a:srgbClr val="2F2B28"/>
                </a:solidFill>
              </a:rPr>
              <a:t>🛒  Shops 5km: modest but significant difference</a:t>
            </a:r>
            <a:endParaRPr lang="en-US" sz="10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77840" y="3383280"/>
            <a:ext cx="32004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87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3383280"/>
            <a:ext cx="3200400" cy="4572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77840" y="3383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Men value more…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66928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2B28"/>
                </a:solidFill>
              </a:rPr>
              <a:t>🚗  Garage: men 624 SEK (€55) vs women 550 SEK (€48)/month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71803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0CC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F2B28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Does health status shape preferences?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F2B28"/>
                </a:solidFill>
              </a:rPr>
              <a:t>Health shapes mobility-related preferences most strongly — green space for the healthy, transport for those with poorer health.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14800" cy="640080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Better health - Owners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02920" y="2606040"/>
            <a:ext cx="3840480" cy="566928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2633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2B28"/>
                </a:solidFill>
              </a:rPr>
              <a:t>🌿  Green space 500m (vs 15km):  416 SEK (€36)/month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291840"/>
            <a:ext cx="3840480" cy="566928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4360" y="3319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2B28"/>
                </a:solidFill>
              </a:rPr>
              <a:t>🚌  Transport 600m (vs 900m):  47 SEK (€4)/month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4069080"/>
            <a:ext cx="3840480" cy="685800"/>
          </a:xfrm>
          <a:prstGeom prst="rect">
            <a:avLst/>
          </a:prstGeom>
          <a:solidFill>
            <a:srgbClr val="894E11"/>
          </a:solidFill>
          <a:ln w="12700">
            <a:solidFill>
              <a:srgbClr val="894E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4360" y="40965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 Active people may benefit more from nearby green space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1828800"/>
            <a:ext cx="41148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54880" y="1828800"/>
            <a:ext cx="4114800" cy="64008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9202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9496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Poorer health - Owners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892040" y="2606040"/>
            <a:ext cx="3840480" cy="566928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4983480" y="2633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🌿  Green space 500m (vs 15km):  293 SEK (€26)/month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892040" y="3291840"/>
            <a:ext cx="3840480" cy="566928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983480" y="33192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🚌  Transport 600m (vs 900m):  164 SEK (€14)/month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892040" y="4069080"/>
            <a:ext cx="3840480" cy="685800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4983480" y="409651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💡  Declining ability may increase reliance on public transport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31265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CC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A023D-254A-FE21-767A-4FC73C80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BFEE5A-5611-B53D-6F95-44FFD8620D8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94E11"/>
          </a:solidFill>
          <a:ln w="12700">
            <a:solidFill>
              <a:srgbClr val="2F2B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3AEA63-4742-44A1-6239-F1FD2814C756}"/>
              </a:ext>
            </a:extLst>
          </p:cNvPr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cs typeface="Times New Roman"/>
              </a:rPr>
              <a:t>In conclusion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D455965-DA5D-D136-D0BF-630C3F4BEED0}"/>
              </a:ext>
            </a:extLst>
          </p:cNvPr>
          <p:cNvSpPr/>
          <p:nvPr/>
        </p:nvSpPr>
        <p:spPr>
          <a:xfrm>
            <a:off x="365760" y="1353312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533F20-2D94-68B6-3C6D-CF21EE1165B0}"/>
              </a:ext>
            </a:extLst>
          </p:cNvPr>
          <p:cNvSpPr/>
          <p:nvPr/>
        </p:nvSpPr>
        <p:spPr>
          <a:xfrm>
            <a:off x="365760" y="1353312"/>
            <a:ext cx="73152" cy="69494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8B4CBE-F57A-C4CF-B3DA-80F7F1F35A92}"/>
              </a:ext>
            </a:extLst>
          </p:cNvPr>
          <p:cNvSpPr/>
          <p:nvPr/>
        </p:nvSpPr>
        <p:spPr>
          <a:xfrm>
            <a:off x="548640" y="14447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F2B28"/>
                </a:solidFill>
              </a:rPr>
              <a:t>Location is central to housing choice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AB39559-EE6C-CD06-378E-C049EF01D5DB}"/>
              </a:ext>
            </a:extLst>
          </p:cNvPr>
          <p:cNvSpPr/>
          <p:nvPr/>
        </p:nvSpPr>
        <p:spPr>
          <a:xfrm>
            <a:off x="3383280" y="1444752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Older adults actively considering relocation place significant monetary value on neighbourhood accessibility — shops, green space, transport, and parking all consistently increase utility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50D01B3-F0FC-0DD0-88A6-6349D426D94F}"/>
              </a:ext>
            </a:extLst>
          </p:cNvPr>
          <p:cNvSpPr/>
          <p:nvPr/>
        </p:nvSpPr>
        <p:spPr>
          <a:xfrm>
            <a:off x="365760" y="2121408"/>
            <a:ext cx="8412480" cy="694944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1D75241-0350-CD17-CCCE-AF8C5C32433C}"/>
              </a:ext>
            </a:extLst>
          </p:cNvPr>
          <p:cNvSpPr/>
          <p:nvPr/>
        </p:nvSpPr>
        <p:spPr>
          <a:xfrm>
            <a:off x="365760" y="2121408"/>
            <a:ext cx="73152" cy="69494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1A2AEFA-FF1A-7F33-275B-F17FEB2B8A1A}"/>
              </a:ext>
            </a:extLst>
          </p:cNvPr>
          <p:cNvSpPr/>
          <p:nvPr/>
        </p:nvSpPr>
        <p:spPr>
          <a:xfrm>
            <a:off x="548640" y="22128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F2B28"/>
                </a:solidFill>
              </a:rPr>
              <a:t>Most preferences are shared across subgroups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A6BFC3-981F-7D55-7C86-D6FF09225D5C}"/>
              </a:ext>
            </a:extLst>
          </p:cNvPr>
          <p:cNvSpPr/>
          <p:nvPr/>
        </p:nvSpPr>
        <p:spPr>
          <a:xfrm>
            <a:off x="3383280" y="2212848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Shops, green space and parking are broadly valued regardless of age, gender, or health — the case for neighbourhood accessibility is robust</a:t>
            </a: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B9C3D9B-18E8-BE8D-E662-2EE26116E9A0}"/>
              </a:ext>
            </a:extLst>
          </p:cNvPr>
          <p:cNvSpPr/>
          <p:nvPr/>
        </p:nvSpPr>
        <p:spPr>
          <a:xfrm>
            <a:off x="365760" y="2889504"/>
            <a:ext cx="84124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B9D89AE-0B50-218C-45E5-52AF9E3567D4}"/>
              </a:ext>
            </a:extLst>
          </p:cNvPr>
          <p:cNvSpPr/>
          <p:nvPr/>
        </p:nvSpPr>
        <p:spPr>
          <a:xfrm>
            <a:off x="365760" y="2889504"/>
            <a:ext cx="73152" cy="69494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14D113C-9320-7086-F359-E143B4FD6E97}"/>
              </a:ext>
            </a:extLst>
          </p:cNvPr>
          <p:cNvSpPr/>
          <p:nvPr/>
        </p:nvSpPr>
        <p:spPr>
          <a:xfrm>
            <a:off x="548640" y="29809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F2B28"/>
                </a:solidFill>
              </a:rPr>
              <a:t>Public transport is the key policy lever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12AC35-7F11-AC59-B77C-E47FD9C804CF}"/>
              </a:ext>
            </a:extLst>
          </p:cNvPr>
          <p:cNvSpPr/>
          <p:nvPr/>
        </p:nvSpPr>
        <p:spPr>
          <a:xfrm>
            <a:off x="3383280" y="2980944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Transport access showed the largest variation across age and health groups — it warrants targeted attention, especially for those in poorer health and advanced age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E1BD1A1-4376-9370-3C6F-55ACA9C443BC}"/>
              </a:ext>
            </a:extLst>
          </p:cNvPr>
          <p:cNvSpPr/>
          <p:nvPr/>
        </p:nvSpPr>
        <p:spPr>
          <a:xfrm>
            <a:off x="365760" y="3657600"/>
            <a:ext cx="8412480" cy="694944"/>
          </a:xfrm>
          <a:prstGeom prst="rect">
            <a:avLst/>
          </a:prstGeom>
          <a:solidFill>
            <a:srgbClr val="E8F4F7"/>
          </a:solidFill>
          <a:ln w="12700">
            <a:solidFill>
              <a:srgbClr val="B1AA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4895F7-91CC-5DEA-4FCC-9215DDFC8112}"/>
              </a:ext>
            </a:extLst>
          </p:cNvPr>
          <p:cNvSpPr/>
          <p:nvPr/>
        </p:nvSpPr>
        <p:spPr>
          <a:xfrm>
            <a:off x="365760" y="3657600"/>
            <a:ext cx="73152" cy="694944"/>
          </a:xfrm>
          <a:prstGeom prst="rect">
            <a:avLst/>
          </a:prstGeom>
          <a:solidFill>
            <a:srgbClr val="E8873A"/>
          </a:solidFill>
          <a:ln w="12700">
            <a:solidFill>
              <a:srgbClr val="E887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F0AB7F6-99DB-9C32-2364-CE6B873B9108}"/>
              </a:ext>
            </a:extLst>
          </p:cNvPr>
          <p:cNvSpPr/>
          <p:nvPr/>
        </p:nvSpPr>
        <p:spPr>
          <a:xfrm>
            <a:off x="548640" y="37490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2F2B28"/>
                </a:solidFill>
              </a:rPr>
              <a:t>Renter inequality deserves policy attention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8A9E923-3CA4-F75D-55DC-51D88595E2C8}"/>
              </a:ext>
            </a:extLst>
          </p:cNvPr>
          <p:cNvSpPr/>
          <p:nvPr/>
        </p:nvSpPr>
        <p:spPr>
          <a:xfrm>
            <a:off x="3383280" y="3749040"/>
            <a:ext cx="5303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F2B28"/>
                </a:solidFill>
              </a:rPr>
              <a:t>Renters value accessible locations as much as owners but face real financial barriers — market mechanisms risk reinforcing spatial inequality in later life</a:t>
            </a:r>
          </a:p>
        </p:txBody>
      </p:sp>
    </p:spTree>
    <p:extLst>
      <p:ext uri="{BB962C8B-B14F-4D97-AF65-F5344CB8AC3E}">
        <p14:creationId xmlns:p14="http://schemas.microsoft.com/office/powerpoint/2010/main" val="2878120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5143" y="648930"/>
            <a:ext cx="595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i="1" dirty="0" err="1">
                <a:solidFill>
                  <a:srgbClr val="000080"/>
                </a:solidFill>
              </a:rPr>
              <a:t>Thank</a:t>
            </a:r>
            <a:r>
              <a:rPr lang="sv-SE" sz="3600" i="1" dirty="0">
                <a:solidFill>
                  <a:srgbClr val="000080"/>
                </a:solidFill>
              </a:rPr>
              <a:t> </a:t>
            </a:r>
            <a:r>
              <a:rPr lang="sv-SE" sz="3600" i="1" dirty="0" err="1">
                <a:solidFill>
                  <a:srgbClr val="000080"/>
                </a:solidFill>
              </a:rPr>
              <a:t>you</a:t>
            </a:r>
            <a:r>
              <a:rPr lang="sv-SE" sz="3600" i="1" dirty="0">
                <a:solidFill>
                  <a:srgbClr val="000080"/>
                </a:solidFill>
              </a:rPr>
              <a:t>!</a:t>
            </a:r>
            <a:endParaRPr lang="en-US" sz="3600" i="1" dirty="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86593" y="4309679"/>
            <a:ext cx="2429511" cy="36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1803" dirty="0">
                <a:solidFill>
                  <a:srgbClr val="000080"/>
                </a:solidFill>
              </a:rPr>
              <a:t>nick.christie@med.lu.se</a:t>
            </a:r>
            <a:endParaRPr lang="en-US" sz="1803" dirty="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93EB09-2FD7-7BFB-C6EF-9C090B2B713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877" y="1124465"/>
            <a:ext cx="5505472" cy="337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78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U-template 16:9">
  <a:themeElements>
    <a:clrScheme name="LU_2017-03-02">
      <a:dk1>
        <a:srgbClr val="000000"/>
      </a:dk1>
      <a:lt1>
        <a:srgbClr val="FFFFFF"/>
      </a:lt1>
      <a:dk2>
        <a:srgbClr val="2F2B28"/>
      </a:dk2>
      <a:lt2>
        <a:srgbClr val="D0CCB6"/>
      </a:lt2>
      <a:accent1>
        <a:srgbClr val="894E11"/>
      </a:accent1>
      <a:accent2>
        <a:srgbClr val="E3B6BB"/>
      </a:accent2>
      <a:accent3>
        <a:srgbClr val="ABC9D4"/>
      </a:accent3>
      <a:accent4>
        <a:srgbClr val="9EC0AA"/>
      </a:accent4>
      <a:accent5>
        <a:srgbClr val="D0CCB6"/>
      </a:accent5>
      <a:accent6>
        <a:srgbClr val="B1AA9F"/>
      </a:accent6>
      <a:hlink>
        <a:srgbClr val="00006D"/>
      </a:hlink>
      <a:folHlink>
        <a:srgbClr val="894E1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U-template-ENG-2022-16-9-tillg" id="{1ABF92B8-4AB5-FD42-8FA8-D8CC107D75A0}" vid="{0E886F46-7A99-7346-B521-931937163E0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D2F39E-668E-45D6-85B8-11F5E73144CE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f851d0be-695e-4431-9894-e949dae8ce0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4813</TotalTime>
  <Words>1132</Words>
  <Application>Microsoft Office PowerPoint</Application>
  <PresentationFormat>On-screen Show (16:9)</PresentationFormat>
  <Paragraphs>111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Light</vt:lpstr>
      <vt:lpstr>Systemtypsnitt normalt</vt:lpstr>
      <vt:lpstr>Times New Roman</vt:lpstr>
      <vt:lpstr>Office Theme</vt:lpstr>
      <vt:lpstr>LU-template 16:9</vt:lpstr>
      <vt:lpstr>The Value of Location: What Matters Most for Older Individuals Considering Relocation in Sweden?</vt:lpstr>
      <vt:lpstr>Disclosure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Susanne Iwarsson</cp:lastModifiedBy>
  <cp:revision>20</cp:revision>
  <dcterms:created xsi:type="dcterms:W3CDTF">2026-05-04T07:19:57Z</dcterms:created>
  <dcterms:modified xsi:type="dcterms:W3CDTF">2026-06-15T19:15:31Z</dcterms:modified>
</cp:coreProperties>
</file>